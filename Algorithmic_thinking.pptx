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Robot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oboto-regular.fntdata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2939fe16b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2939fe16b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2939fe16bf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2939fe16bf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52063ab7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52063ab7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2939fe16bf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2939fe16bf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2939fe16bf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2939fe16bf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2939fe16bf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2939fe16bf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2939fe16bf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2939fe16bf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2939fe16bf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2939fe16bf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2939fe16bf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2939fe16bf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2939fe16bf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2939fe16bf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2939fe16bf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2939fe16bf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2939fe16bf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2939fe16bf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2939fe16bf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2939fe16bf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2939fe16bf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2939fe16bf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2939fe16bf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2939fe16bf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2939fe16bf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2939fe16bf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2939fe16bf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2939fe16bf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2939fe16bf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2939fe16bf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2939fe16bf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2939fe16bf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2939fe16bf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2939fe16bf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51c26ffa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51c26ffa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2939fe16bf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2939fe16bf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51c26ffae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51c26ffae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2939fe16bf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2939fe16bf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2939fe16bf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2939fe16bf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52063ab77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52063ab77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2063ab77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52063ab77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2939fe16bf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2939fe16bf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51d2ec28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51d2ec28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51d2ec288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51d2ec288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51d2ec288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51d2ec288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51d2ec288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51d2ec288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52063ab77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52063ab77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294345e9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294345e9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294345e9e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294345e9e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294345e9e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294345e9e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51d2ec288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51d2ec288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51d2ec288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51d2ec288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52063ab77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52063ab77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en.wikipedia.org/wiki/Coding_best_practices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Algorithmic Thinking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Chandan J. </a:t>
            </a:r>
            <a:endParaRPr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set of finite rules or instructions to be followed in calculations or other problem-solving operations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Place of Usage : Computer Science, Mathematics, Operations Research, Artificial Intelligence, Data Science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What is Algorithm ??</a:t>
            </a:r>
            <a:endParaRPr sz="2600"/>
          </a:p>
        </p:txBody>
      </p:sp>
      <p:sp>
        <p:nvSpPr>
          <p:cNvPr id="80" name="Google Shape;80;p15"/>
          <p:cNvSpPr/>
          <p:nvPr/>
        </p:nvSpPr>
        <p:spPr>
          <a:xfrm>
            <a:off x="3376050" y="768175"/>
            <a:ext cx="2391900" cy="2556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Set of Rules to get the expected Result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1272450" y="1595125"/>
            <a:ext cx="1380600" cy="90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Input</a:t>
            </a:r>
            <a:endParaRPr b="1" sz="2100"/>
          </a:p>
        </p:txBody>
      </p:sp>
      <p:sp>
        <p:nvSpPr>
          <p:cNvPr id="82" name="Google Shape;82;p15"/>
          <p:cNvSpPr/>
          <p:nvPr/>
        </p:nvSpPr>
        <p:spPr>
          <a:xfrm>
            <a:off x="6490950" y="1595125"/>
            <a:ext cx="1380600" cy="90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Out</a:t>
            </a:r>
            <a:r>
              <a:rPr b="1" lang="en" sz="2100"/>
              <a:t>put</a:t>
            </a:r>
            <a:endParaRPr b="1" sz="2100"/>
          </a:p>
        </p:txBody>
      </p:sp>
      <p:cxnSp>
        <p:nvCxnSpPr>
          <p:cNvPr id="83" name="Google Shape;83;p15"/>
          <p:cNvCxnSpPr>
            <a:stCxn id="81" idx="3"/>
            <a:endCxn id="80" idx="1"/>
          </p:cNvCxnSpPr>
          <p:nvPr/>
        </p:nvCxnSpPr>
        <p:spPr>
          <a:xfrm>
            <a:off x="2653050" y="2046175"/>
            <a:ext cx="723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5"/>
          <p:cNvCxnSpPr>
            <a:stCxn id="80" idx="3"/>
            <a:endCxn id="82" idx="1"/>
          </p:cNvCxnSpPr>
          <p:nvPr/>
        </p:nvCxnSpPr>
        <p:spPr>
          <a:xfrm>
            <a:off x="5767950" y="2046175"/>
            <a:ext cx="723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6138" y="152400"/>
            <a:ext cx="2151728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Characteristics of Algorithm</a:t>
            </a:r>
            <a:endParaRPr b="1" sz="2300"/>
          </a:p>
        </p:txBody>
      </p:sp>
      <p:sp>
        <p:nvSpPr>
          <p:cNvPr id="95" name="Google Shape;95;p17"/>
          <p:cNvSpPr/>
          <p:nvPr/>
        </p:nvSpPr>
        <p:spPr>
          <a:xfrm>
            <a:off x="3198300" y="1287000"/>
            <a:ext cx="2747400" cy="256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Characteristics of Algorithm</a:t>
            </a:r>
            <a:endParaRPr b="1" sz="1900"/>
          </a:p>
        </p:txBody>
      </p:sp>
      <p:sp>
        <p:nvSpPr>
          <p:cNvPr id="96" name="Google Shape;96;p17"/>
          <p:cNvSpPr/>
          <p:nvPr/>
        </p:nvSpPr>
        <p:spPr>
          <a:xfrm>
            <a:off x="905475" y="590400"/>
            <a:ext cx="1487700" cy="69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Well Defined IP</a:t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905475" y="2223450"/>
            <a:ext cx="1487700" cy="69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Clear &amp; Unambiguous</a:t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905475" y="3792950"/>
            <a:ext cx="1487700" cy="69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 Independent</a:t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7169575" y="622175"/>
            <a:ext cx="1161900" cy="69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Well Defined OP</a:t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7169575" y="2255225"/>
            <a:ext cx="1161900" cy="69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Finite</a:t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7169575" y="3824725"/>
            <a:ext cx="1161900" cy="69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Feasible</a:t>
            </a:r>
            <a:endParaRPr/>
          </a:p>
        </p:txBody>
      </p:sp>
      <p:cxnSp>
        <p:nvCxnSpPr>
          <p:cNvPr id="102" name="Google Shape;102;p17"/>
          <p:cNvCxnSpPr>
            <a:stCxn id="96" idx="3"/>
            <a:endCxn id="95" idx="1"/>
          </p:cNvCxnSpPr>
          <p:nvPr/>
        </p:nvCxnSpPr>
        <p:spPr>
          <a:xfrm>
            <a:off x="2393175" y="938700"/>
            <a:ext cx="1207500" cy="72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17"/>
          <p:cNvCxnSpPr>
            <a:stCxn id="97" idx="3"/>
            <a:endCxn id="95" idx="2"/>
          </p:cNvCxnSpPr>
          <p:nvPr/>
        </p:nvCxnSpPr>
        <p:spPr>
          <a:xfrm>
            <a:off x="2393175" y="2571750"/>
            <a:ext cx="80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7"/>
          <p:cNvCxnSpPr>
            <a:stCxn id="98" idx="3"/>
            <a:endCxn id="95" idx="3"/>
          </p:cNvCxnSpPr>
          <p:nvPr/>
        </p:nvCxnSpPr>
        <p:spPr>
          <a:xfrm flipH="1" rot="10800000">
            <a:off x="2393175" y="3480350"/>
            <a:ext cx="1207500" cy="66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7"/>
          <p:cNvCxnSpPr>
            <a:stCxn id="99" idx="1"/>
            <a:endCxn id="95" idx="7"/>
          </p:cNvCxnSpPr>
          <p:nvPr/>
        </p:nvCxnSpPr>
        <p:spPr>
          <a:xfrm flipH="1">
            <a:off x="5543275" y="970475"/>
            <a:ext cx="1626300" cy="69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7"/>
          <p:cNvCxnSpPr>
            <a:stCxn id="100" idx="1"/>
            <a:endCxn id="95" idx="6"/>
          </p:cNvCxnSpPr>
          <p:nvPr/>
        </p:nvCxnSpPr>
        <p:spPr>
          <a:xfrm rot="10800000">
            <a:off x="5945575" y="2571725"/>
            <a:ext cx="1224000" cy="3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7"/>
          <p:cNvCxnSpPr>
            <a:stCxn id="101" idx="1"/>
            <a:endCxn id="95" idx="5"/>
          </p:cNvCxnSpPr>
          <p:nvPr/>
        </p:nvCxnSpPr>
        <p:spPr>
          <a:xfrm rot="10800000">
            <a:off x="5543275" y="3480325"/>
            <a:ext cx="1626300" cy="69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Easy to understand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Stepwise representation of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Easy to Convert to Program</a:t>
            </a:r>
            <a:endParaRPr/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 of Algo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 Consuming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 complex problem, its difficult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Difficult for branching and looping</a:t>
            </a:r>
            <a:endParaRPr/>
          </a:p>
        </p:txBody>
      </p:sp>
      <p:sp>
        <p:nvSpPr>
          <p:cNvPr id="119" name="Google Shape;119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</a:t>
            </a:r>
            <a:r>
              <a:rPr lang="en"/>
              <a:t>dvantages of Algo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 1: Add two numbers entered by the user</a:t>
            </a:r>
            <a:endParaRPr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860"/>
              <a:t>Step 1: Start</a:t>
            </a:r>
            <a:endParaRPr sz="18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860"/>
              <a:t>Step 2: Declare variables num1, num2 and sum. </a:t>
            </a:r>
            <a:endParaRPr sz="18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860"/>
              <a:t>Step 3: Read values num1 and num2. </a:t>
            </a:r>
            <a:endParaRPr sz="18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860"/>
              <a:t>Step 4: Add num1 and num2 and assign the result to sum.</a:t>
            </a:r>
            <a:endParaRPr sz="18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860"/>
              <a:t>        sum←num1+num2 </a:t>
            </a:r>
            <a:endParaRPr sz="18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860"/>
              <a:t>Step 5: Display sum </a:t>
            </a:r>
            <a:endParaRPr sz="18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860"/>
              <a:t>Step 6: Stop</a:t>
            </a:r>
            <a:endParaRPr sz="18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86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 2: Find the factorial of a number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750"/>
              <a:t>Step 1: Start</a:t>
            </a:r>
            <a:endParaRPr sz="175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750"/>
              <a:t>Step 2: Declare variables n, factorial and i.</a:t>
            </a:r>
            <a:endParaRPr sz="175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750"/>
              <a:t>Step 3: Initialize variables</a:t>
            </a:r>
            <a:endParaRPr sz="175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750"/>
              <a:t>          factorial ← 1</a:t>
            </a:r>
            <a:endParaRPr sz="175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750"/>
              <a:t>          i ← 1</a:t>
            </a:r>
            <a:endParaRPr sz="175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750"/>
              <a:t>Step 4: Read value of n</a:t>
            </a:r>
            <a:endParaRPr sz="175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750"/>
              <a:t>Step 5: Repeat the steps until i = n</a:t>
            </a:r>
            <a:endParaRPr sz="175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750"/>
              <a:t>     5.1: factorial ← factorial*i</a:t>
            </a:r>
            <a:endParaRPr sz="175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750"/>
              <a:t>     5.2: i ← i+1</a:t>
            </a:r>
            <a:endParaRPr sz="175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750"/>
              <a:t>Step 6: Display factorial</a:t>
            </a:r>
            <a:endParaRPr sz="175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750"/>
              <a:t>Step 7: Stop</a:t>
            </a:r>
            <a:endParaRPr sz="175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7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 3: Find the Fibonacci series till the term less than 1000</a:t>
            </a:r>
            <a:endParaRPr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985"/>
              <a:t>Step 1: Start </a:t>
            </a:r>
            <a:endParaRPr sz="1985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985"/>
              <a:t>Step 2: Declare variables first_term,second_term and temp. </a:t>
            </a:r>
            <a:endParaRPr sz="1985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985"/>
              <a:t>Step 3: Initialize variables first_term ← 0 second_term ← 1 </a:t>
            </a:r>
            <a:endParaRPr sz="1985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985"/>
              <a:t>Step 4: Display first_term and second_term </a:t>
            </a:r>
            <a:endParaRPr sz="1985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985"/>
              <a:t>Step 5: Repeat the steps until second_term ≤ 1000 </a:t>
            </a:r>
            <a:endParaRPr sz="1985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985"/>
              <a:t>     5.1: temp ← second_term </a:t>
            </a:r>
            <a:endParaRPr sz="1985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985"/>
              <a:t>     5.2: second_term ← second_term + first_term </a:t>
            </a:r>
            <a:endParaRPr sz="1985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985"/>
              <a:t>     5.3: first_term ← temp </a:t>
            </a:r>
            <a:endParaRPr sz="1985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985"/>
              <a:t>     5.4: Display second_term </a:t>
            </a:r>
            <a:endParaRPr sz="1985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985"/>
              <a:t>Step 6: Stop</a:t>
            </a:r>
            <a:endParaRPr sz="1985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98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Complexity</a:t>
            </a:r>
            <a:endParaRPr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Algorithms are procedures or instructions (set of steps) that tell a computer what to do and how to do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to Compare 2 Algorithms??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 complexity represents the number of times a statement is executed.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Big O notation is a language we use to describe the time complexity of an algorithm.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 O notation expresses the run time of an algorithm in terms of how quickly it grows relative to the input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Constant Time Complexity O(n) :  An algorithm has constant time complexity if it takes the same time regardless of the number of inputs</a:t>
            </a:r>
            <a:endParaRPr/>
          </a:p>
        </p:txBody>
      </p:sp>
      <p:pic>
        <p:nvPicPr>
          <p:cNvPr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9413" y="1906550"/>
            <a:ext cx="4665185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: </a:t>
            </a:r>
            <a:endParaRPr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var_arr = [ 1,2,3,4,5]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var_arr[2]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Time Complexity O(n) : running time increases at most linearly with the size of the input.</a:t>
            </a:r>
            <a:endParaRPr/>
          </a:p>
        </p:txBody>
      </p:sp>
      <p:pic>
        <p:nvPicPr>
          <p:cNvPr id="161" name="Google Shape;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363" y="1693350"/>
            <a:ext cx="4665185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Var1 = [................]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Sum =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i in var1: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sum+=i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Logarithmic time complexity : O(log n) - if the time it takes to run the algorithm is proportional to the logarithm of the input size n</a:t>
            </a:r>
            <a:endParaRPr/>
          </a:p>
        </p:txBody>
      </p:sp>
      <p:pic>
        <p:nvPicPr>
          <p:cNvPr id="173" name="Google Shape;17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700" y="1713150"/>
            <a:ext cx="6824588" cy="3332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of Sorted Numbers 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Quadratic Time Complexity O(n^2) : it takes to run grows directly proportional to the square of the size of the input </a:t>
            </a:r>
            <a:endParaRPr/>
          </a:p>
        </p:txBody>
      </p:sp>
      <p:pic>
        <p:nvPicPr>
          <p:cNvPr id="185" name="Google Shape;18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7013" y="2203325"/>
            <a:ext cx="5111875" cy="28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91" name="Google Shape;191;p3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 = len(var_list[])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i in range(n):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For j in range(n):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	……………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</a:t>
            </a:r>
            <a:endParaRPr/>
          </a:p>
        </p:txBody>
      </p:sp>
      <p:pic>
        <p:nvPicPr>
          <p:cNvPr id="197" name="Google Shape;19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7138" y="1811225"/>
            <a:ext cx="4789719" cy="333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</a:t>
            </a:r>
            <a:endParaRPr/>
          </a:p>
        </p:txBody>
      </p:sp>
      <p:pic>
        <p:nvPicPr>
          <p:cNvPr id="203" name="Google Shape;20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8475" y="1713500"/>
            <a:ext cx="6547050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/>
        </p:nvSpPr>
        <p:spPr>
          <a:xfrm>
            <a:off x="1897050" y="234775"/>
            <a:ext cx="5349900" cy="48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# Binary Search in python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def binarySearch(array, x, low, high):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# Repeat until the pointers low and high meet each other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while low &lt;= high: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mid = low + (high - low)//2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if array[mid] == x: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  return mid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elif array[mid] &lt; x: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  low = mid + 1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else: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  high = mid - 1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return -1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array = [3, 4, 5, 6, 7, 8, 9]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x = 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result = binarySearch(array, x, 0, len(array)-1)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if result != -1: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print("Element is present at index " + str(result))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else: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print("Not found")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Euclid’s Algo</a:t>
            </a:r>
            <a:endParaRPr/>
          </a:p>
        </p:txBody>
      </p:sp>
      <p:pic>
        <p:nvPicPr>
          <p:cNvPr id="214" name="Google Shape;2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1775" y="1811225"/>
            <a:ext cx="2242344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/>
        </p:nvSpPr>
        <p:spPr>
          <a:xfrm>
            <a:off x="2868150" y="1173850"/>
            <a:ext cx="3407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function gcd(a, b):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   if b = 0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       return 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   else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       return gcd(b, a mod b)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>
            <p:ph idx="4294967295"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</a:t>
            </a:r>
            <a:endParaRPr/>
          </a:p>
        </p:txBody>
      </p:sp>
      <p:pic>
        <p:nvPicPr>
          <p:cNvPr id="225" name="Google Shape;22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453" y="0"/>
            <a:ext cx="665629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9547" y="1658825"/>
            <a:ext cx="1853453" cy="2502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6523" y="685474"/>
            <a:ext cx="6270950" cy="438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9800" y="152400"/>
            <a:ext cx="630439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</a:t>
            </a:r>
            <a:endParaRPr/>
          </a:p>
        </p:txBody>
      </p:sp>
      <p:pic>
        <p:nvPicPr>
          <p:cNvPr id="242" name="Google Shape;24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650" y="2032900"/>
            <a:ext cx="7086600" cy="24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: A tree data structure is a hierarchical structure that is used to represent and organize data in a way that is easy to navigate and search.</a:t>
            </a:r>
            <a:endParaRPr/>
          </a:p>
        </p:txBody>
      </p:sp>
      <p:pic>
        <p:nvPicPr>
          <p:cNvPr id="248" name="Google Shape;24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888" y="1648350"/>
            <a:ext cx="6652118" cy="333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80"/>
              <a:t>Binary Tree : tree data structure where each node has at most 2 children. Since each element in a binary tree can have only 2 children, we typically name them the left and right child.</a:t>
            </a:r>
            <a:endParaRPr sz="2280"/>
          </a:p>
        </p:txBody>
      </p:sp>
      <p:pic>
        <p:nvPicPr>
          <p:cNvPr id="254" name="Google Shape;25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2700" y="1815975"/>
            <a:ext cx="4000500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Tree</a:t>
            </a:r>
            <a:endParaRPr/>
          </a:p>
        </p:txBody>
      </p:sp>
      <p:sp>
        <p:nvSpPr>
          <p:cNvPr id="260" name="Google Shape;260;p4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left subtree of a node contains only nodes with keys lesser than the node’s key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right subtree of a node contains only nodes with keys greater than the node’s key.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left and right subtree each must also be a binary search tree.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BST …</a:t>
            </a:r>
            <a:endParaRPr/>
          </a:p>
        </p:txBody>
      </p:sp>
      <p:pic>
        <p:nvPicPr>
          <p:cNvPr id="266" name="Google Shape;26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4200" y="1724550"/>
            <a:ext cx="6137507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Heap : A Heap is a special Tree-based data structure in which the tree is a complete binary tree.</a:t>
            </a:r>
            <a:endParaRPr/>
          </a:p>
        </p:txBody>
      </p:sp>
      <p:pic>
        <p:nvPicPr>
          <p:cNvPr id="272" name="Google Shape;27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438" y="1782675"/>
            <a:ext cx="5719114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Heap</a:t>
            </a:r>
            <a:endParaRPr/>
          </a:p>
        </p:txBody>
      </p:sp>
      <p:pic>
        <p:nvPicPr>
          <p:cNvPr id="278" name="Google Shape;27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4500" y="1717275"/>
            <a:ext cx="2776896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 v/s Heap</a:t>
            </a:r>
            <a:endParaRPr/>
          </a:p>
        </p:txBody>
      </p:sp>
      <p:sp>
        <p:nvSpPr>
          <p:cNvPr id="284" name="Google Shape;284;p4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Stack provides static memory allocation, i.e., it is used to store the temporary variables.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is a linear data structure means that elements are stored in the linear manner, i.e., one data after another.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is used to access the local variables.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size of the stack memory is limited which is dependent on the OS.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As it is a linear data structure, so data is stored in the contiguous blocks.</a:t>
            </a:r>
            <a:endParaRPr/>
          </a:p>
        </p:txBody>
      </p:sp>
      <p:sp>
        <p:nvSpPr>
          <p:cNvPr id="285" name="Google Shape;285;p4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Heap provides dynamic memory allocation. By default, all the global variables are stored in the heap.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is hierarchical data structure means that the elements are stored in the form of tree.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is used to access the global variables by default.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size of the memory is not limited.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As it is hierarchical data structure, so elements are stored in the random manner.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 v/s Heap contd..</a:t>
            </a:r>
            <a:endParaRPr/>
          </a:p>
        </p:txBody>
      </p:sp>
      <p:sp>
        <p:nvSpPr>
          <p:cNvPr id="291" name="Google Shape;291;p48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stack, the allocation and deallocation are automatically managed.	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implementation of stack can be done in three forms using array, linked list and dynamic memory.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main issue that occurs with a stack is the shortage of memory because the memory size cannot be changed at the runtime. The size of the stack is determined at the compile time.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is of fixed size.</a:t>
            </a:r>
            <a:endParaRPr/>
          </a:p>
        </p:txBody>
      </p:sp>
      <p:sp>
        <p:nvSpPr>
          <p:cNvPr id="292" name="Google Shape;292;p48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heap, the memory is manually managed.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implementation of heap can be done in two forms using arrays and trees.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main issue that occurs with a heap is the memory fragmentation. Here, memory fragmentation means that the memory gets wasted.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	It is flexible to use as the size of the heap can vary as per our needs.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 v/s Heap contd..</a:t>
            </a:r>
            <a:endParaRPr/>
          </a:p>
        </p:txBody>
      </p:sp>
      <p:sp>
        <p:nvSpPr>
          <p:cNvPr id="298" name="Google Shape;298;p49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access time in stack is faster.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size of the stack memory is decided by the operating system.	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scope of the variable cannot be changed.</a:t>
            </a:r>
            <a:endParaRPr/>
          </a:p>
        </p:txBody>
      </p:sp>
      <p:sp>
        <p:nvSpPr>
          <p:cNvPr id="299" name="Google Shape;299;p49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access time in heap is slower.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size of the heap memory is decided by the programmers.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scope of the variable can be changed.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 in Coding</a:t>
            </a:r>
            <a:endParaRPr/>
          </a:p>
        </p:txBody>
      </p:sp>
      <p:sp>
        <p:nvSpPr>
          <p:cNvPr id="305" name="Google Shape;305;p5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Don't repeat yourself - DRY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Naming Convention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Comments : No comment is better than bad comment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Nice Article in WIKI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Naming Convention</a:t>
            </a:r>
            <a:endParaRPr/>
          </a:p>
        </p:txBody>
      </p:sp>
      <p:pic>
        <p:nvPicPr>
          <p:cNvPr id="311" name="Google Shape;31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2288" y="1769675"/>
            <a:ext cx="4159434" cy="333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2"/>
          <p:cNvSpPr txBox="1"/>
          <p:nvPr>
            <p:ph type="title"/>
          </p:nvPr>
        </p:nvSpPr>
        <p:spPr>
          <a:xfrm>
            <a:off x="14584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